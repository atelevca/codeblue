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794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0:15</a:t>
            </a:r>
          </a:p>
          <a:p>
            <a:endParaRPr/>
          </a:p>
          <a:p>
            <a:r>
              <a:t>Hook: "This morning a doctor in the ATI ward finished a round with two colleagues. They spoke Romanian, dropped Russian words in the middle of sentences, named five drugs and three diagnoses. Now she has to write all of it down."</a:t>
            </a:r>
          </a:p>
          <a:p>
            <a:endParaRPr/>
          </a:p>
          <a:p>
            <a:r>
              <a:t>Then: CodeBlue does that for her, and nothing leaves the hospital.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0:45</a:t>
            </a:r>
          </a:p>
          <a:p>
            <a:endParaRPr/>
          </a:p>
          <a:p>
            <a:r>
              <a:t>Who: doctors and administrative staff at Medpark.</a:t>
            </a:r>
          </a:p>
          <a:p>
            <a:r>
              <a:t>Example: after a round in intensive care, one doctor writes the minutes from memory.</a:t>
            </a:r>
          </a:p>
          <a:p>
            <a:r>
              <a:t>Why it's hard: Moldovan clinical speech is Romanian with Russian insertions and dense medical vocabulary. Auto language detection flips to Russian and even translates. And patient audio cannot go to a cloud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~0:20, then straight to the demo.</a:t>
            </a:r>
          </a:p>
          <a:p>
            <a:endParaRPr/>
          </a:p>
          <a:p>
            <a:r>
              <a:t>Innovation: it is not just speech-to-text. A second model fixes the medical vocabulary, and a third pass checks the minutes against the transcript, so the doctor reviews instead of writing. Everything runs on-premise.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~1:40</a:t>
            </a:r>
          </a:p>
          <a:p>
            <a:endParaRPr/>
          </a:p>
          <a:p>
            <a:r>
              <a:t>One flow, start to finish, on the real Medpark recording (Medpark_audio_2min.m4a):</a:t>
            </a:r>
          </a:p>
          <a:p>
            <a:r>
              <a:t>1. Drop the file. The server checks it is audio by content, not by extension.</a:t>
            </a:r>
          </a:p>
          <a:p>
            <a:r>
              <a:t>2. Name it, pick 2 speakers and 'Medical'. That choice selects the prompts and glossaries.</a:t>
            </a:r>
          </a:p>
          <a:p>
            <a:r>
              <a:t>3. Processing: audio analysis, transcription chunk by chunk, speakers, term correction, minutes. You can leave the page; a toast tells you when it is ready.</a:t>
            </a:r>
          </a:p>
          <a:p>
            <a:r>
              <a:t>4. The minutes open with the verification result: here it found a contradiction about noradrenaline doses and shows both quotes and a proposed fix.</a:t>
            </a:r>
          </a:p>
          <a:p>
            <a:r>
              <a:t>5. Download the PDF on Medpark letterhead.</a:t>
            </a:r>
          </a:p>
          <a:p>
            <a:endParaRPr/>
          </a:p>
          <a:p>
            <a:r>
              <a:t>Processing takes about 12 minutes for 2 minutes of audio on a laptop, so show a finished job live and keep the demo video open in another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0:45</a:t>
            </a:r>
          </a:p>
          <a:p>
            <a:endParaRPr/>
          </a:p>
          <a:p>
            <a:r>
              <a:t>Constraint we respected: nothing goes to the cloud. Every model runs in-process on the server.</a:t>
            </a:r>
          </a:p>
          <a:p>
            <a:r>
              <a:t>Whisper is forced to Romanian: auto-detect misfires per chunk and translates to Russian.</a:t>
            </a:r>
          </a:p>
          <a:p>
            <a:r>
              <a:t>The LLM may only fix terms: a validator rejects any edit that changes numbers, translates, or rewrites more than 25% of a sentence.</a:t>
            </a:r>
          </a:p>
          <a:p>
            <a:r>
              <a:t>Honest about gaps: no authentication, manual speaker linking, and it is slow on a laptop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0:25</a:t>
            </a:r>
          </a:p>
          <a:p>
            <a:endParaRPr/>
          </a:p>
          <a:p>
            <a:r>
              <a:t>0: privacy is built in, not promised. 13,200: 850 curated medical terms plus the full Romanian ICD-10 list of 12,350 diagnoses. 3 steps: that is all the doctor does.</a:t>
            </a:r>
          </a:p>
          <a:p>
            <a:r>
              <a:t>We did not invent a time-saved number. We will measure it in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0:20</a:t>
            </a:r>
          </a:p>
          <a:p>
            <a:endParaRPr/>
          </a:p>
          <a:p>
            <a:r>
              <a:t>If Medpark says yes, on Monday we install it on one server in their network and run it on real rounds with one doctor reviewing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0:15</a:t>
            </a:r>
          </a:p>
          <a:p>
            <a:endParaRPr/>
          </a:p>
          <a:p>
            <a:r>
              <a:t>Anastasia built the UI, the medical term correction and the PDF minutes. Denis built the processing pipeline and speaker linking. We both stay on for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0:15</a:t>
            </a:r>
          </a:p>
          <a:p>
            <a:endParaRPr/>
          </a:p>
          <a:p>
            <a:r>
              <a:t>Repeat the sentence, then: "Thank you, we are team CodeBlue."</a:t>
            </a:r>
          </a:p>
          <a:p>
            <a:r>
              <a:t>Q&amp;A split: Denis answers pipeline and infrastructure questions, Anastasia answers product, LLM and minutes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technical details, extra screenshots, data sources or a business model here. Use them to answer Q&amp;A questions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</a:t>
            </a:r>
          </a:p>
          <a:p>
            <a:r>
              <a:t>- Different from existing tools? Offline, Romanian with Russian, medical glossary, and minutes verified against the transcript.</a:t>
            </a:r>
          </a:p>
          <a:p>
            <a:r>
              <a:t>- Real vs mocked? See 'How it works'.</a:t>
            </a:r>
          </a:p>
          <a:p>
            <a:r>
              <a:t>- Real data? Yes, Medpark recordings, 2 to 6 speakers.</a:t>
            </a:r>
          </a:p>
          <a:p>
            <a:r>
              <a:t>- To go live? Authentication, a GPU server in the hospital network, a pilot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if asked how speakers are identified: diarization separates voices automatically; linking a voice to a doctor is a manual pick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pic>
        <p:nvPicPr>
          <p:cNvPr id="3" name="Image 1" descr="/tmp/claude-0/-home-claude/e48bd055-a5b8-5cc1-9814-be7f81f1d968/scratchpad/pitch/img/s1_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40080"/>
            <a:ext cx="3657600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463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60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CodeBlue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640080" y="26974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doctors who write up rounds and meetings by hand, CodeBlue turns a recording into a transcript by speaker and verified minutes, fully offline, so patient audio never leaves the hospital.</a:t>
            </a:r>
          </a:p>
        </p:txBody>
      </p:sp>
      <p:sp>
        <p:nvSpPr>
          <p:cNvPr id="6" name="Shape 2"/>
          <p:cNvSpPr/>
          <p:nvPr/>
        </p:nvSpPr>
        <p:spPr>
          <a:xfrm>
            <a:off x="640080" y="411480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914400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4663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HealthTech · Medpark: meeting and ward-round minutes from audio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6949440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46634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CodeBlue · Anastasia Televca, Denis Briceag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6949440" cy="4480560"/>
          </a:xfrm>
          <a:prstGeom prst="roundRect">
            <a:avLst>
              <a:gd name="adj" fmla="val 2449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THIS PROBLEM?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03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Medpark doctors and staff who must turn ward rounds, consultations and meetings into written minutes.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7724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TODAY?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429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 ATI round the doctor types the minutes from memory. Speech mixes Romanian, Russian, English and drug names, and generic speech-to-text garbles it.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77724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 TO THE CHALLENGE PROVIDER?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54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hours go to paperwork, details get lost, and cloud transcription is not allowed for patient data.</a:t>
            </a:r>
          </a:p>
        </p:txBody>
      </p:sp>
      <p:sp>
        <p:nvSpPr>
          <p:cNvPr id="11" name="Shape 8"/>
          <p:cNvSpPr/>
          <p:nvPr/>
        </p:nvSpPr>
        <p:spPr>
          <a:xfrm>
            <a:off x="7726680" y="1463040"/>
            <a:ext cx="3959352" cy="4480560"/>
          </a:xfrm>
          <a:prstGeom prst="roundRect">
            <a:avLst>
              <a:gd name="adj" fmla="val 2771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00E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26680" y="2011680"/>
            <a:ext cx="3959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6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RO+RU</a:t>
            </a:r>
            <a:r>
              <a:rPr lang="ru-MD" sz="6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en-US" sz="6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8046720" y="397764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languages in one sentence, plus Latin drug names: off-the-shelf speech-to-text misreads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11183112" cy="1417320"/>
          </a:xfrm>
          <a:prstGeom prst="roundRect">
            <a:avLst>
              <a:gd name="adj" fmla="val 7742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00E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recording, describe it in one short form, and get a transcript split by speaker plus minutes checked against what was actually said, all on local models.</a:t>
            </a:r>
          </a:p>
        </p:txBody>
      </p:sp>
      <p:sp>
        <p:nvSpPr>
          <p:cNvPr id="6" name="Shape 3"/>
          <p:cNvSpPr/>
          <p:nvPr/>
        </p:nvSpPr>
        <p:spPr>
          <a:xfrm>
            <a:off x="502920" y="3154680"/>
            <a:ext cx="3611880" cy="2788920"/>
          </a:xfrm>
          <a:prstGeom prst="roundRect">
            <a:avLst>
              <a:gd name="adj" fmla="val 3934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069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RO/RU/EN speech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77240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large-v3 transcribes Romanian with Russian and English words. Voices are separated and linked to doctors by name.</a:t>
            </a:r>
          </a:p>
        </p:txBody>
      </p:sp>
      <p:sp>
        <p:nvSpPr>
          <p:cNvPr id="11" name="Shape 8"/>
          <p:cNvSpPr/>
          <p:nvPr/>
        </p:nvSpPr>
        <p:spPr>
          <a:xfrm>
            <a:off x="4288536" y="3154680"/>
            <a:ext cx="3611880" cy="2788920"/>
          </a:xfrm>
          <a:prstGeom prst="roundRect">
            <a:avLst>
              <a:gd name="adj" fmla="val 3934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62856" y="3383280"/>
            <a:ext cx="502920" cy="50292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562856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62856" y="4069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medical terms</a:t>
            </a:r>
          </a:p>
        </p:txBody>
      </p:sp>
      <p:sp>
        <p:nvSpPr>
          <p:cNvPr id="15" name="Text 12"/>
          <p:cNvSpPr txBox="1"/>
          <p:nvPr/>
        </p:nvSpPr>
        <p:spPr>
          <a:xfrm>
            <a:off x="4562856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LLM corrects misheard terms with 850 medical terms, 12,350 ICD-10 diagnoses and a Moldovan-speech list.</a:t>
            </a:r>
          </a:p>
        </p:txBody>
      </p:sp>
      <p:sp>
        <p:nvSpPr>
          <p:cNvPr id="16" name="Shape 13"/>
          <p:cNvSpPr/>
          <p:nvPr/>
        </p:nvSpPr>
        <p:spPr>
          <a:xfrm>
            <a:off x="8074152" y="3154680"/>
            <a:ext cx="3611880" cy="2788920"/>
          </a:xfrm>
          <a:prstGeom prst="roundRect">
            <a:avLst>
              <a:gd name="adj" fmla="val 3934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348472" y="3383280"/>
            <a:ext cx="502920" cy="502920"/>
          </a:xfrm>
          <a:prstGeom prst="ellipse">
            <a:avLst/>
          </a:prstGeom>
          <a:solidFill>
            <a:srgbClr val="00EF00"/>
          </a:solidFill>
          <a:ln w="12700">
            <a:solidFill>
              <a:srgbClr val="00E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8348472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48472" y="4069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minutes</a:t>
            </a:r>
          </a:p>
        </p:txBody>
      </p:sp>
      <p:sp>
        <p:nvSpPr>
          <p:cNvPr id="20" name="Text 17"/>
          <p:cNvSpPr txBox="1"/>
          <p:nvPr/>
        </p:nvSpPr>
        <p:spPr>
          <a:xfrm>
            <a:off x="8348472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are checked against the transcript and discrepancies come with quotes. PDF on Medpark letterhead.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11183112" cy="4480560"/>
          </a:xfrm>
          <a:prstGeom prst="roundRect">
            <a:avLst>
              <a:gd name="adj" fmla="val 2449"/>
            </a:avLst>
          </a:prstGeom>
          <a:solidFill>
            <a:srgbClr val="0C120E">
              <a:alpha val="75000"/>
            </a:srgbClr>
          </a:solidFill>
          <a:ln w="19050">
            <a:solidFill>
              <a:srgbClr val="00EF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1920240"/>
            <a:ext cx="3429000" cy="2571750"/>
          </a:xfrm>
          <a:prstGeom prst="rect">
            <a:avLst/>
          </a:prstGeom>
        </p:spPr>
      </p:pic>
      <p:sp>
        <p:nvSpPr>
          <p:cNvPr id="6" name="Clone 6"/>
          <p:cNvSpPr txBox="1"/>
          <p:nvPr/>
        </p:nvSpPr>
        <p:spPr>
          <a:xfrm>
            <a:off x="676656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Upload and describe</a:t>
            </a:r>
          </a:p>
        </p:txBody>
      </p:sp>
      <p:sp>
        <p:nvSpPr>
          <p:cNvPr id="7" name="Clone 7"/>
          <p:cNvSpPr txBox="1"/>
          <p:nvPr/>
        </p:nvSpPr>
        <p:spPr>
          <a:xfrm>
            <a:off x="676656" y="5120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speaker count, record type</a:t>
            </a:r>
          </a:p>
        </p:txBody>
      </p:sp>
      <p:pic>
        <p:nvPicPr>
          <p:cNvPr id="8" name="Picture 7" descr="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976" y="1920240"/>
            <a:ext cx="3429000" cy="2571750"/>
          </a:xfrm>
          <a:prstGeom prst="rect">
            <a:avLst/>
          </a:prstGeom>
        </p:spPr>
      </p:pic>
      <p:sp>
        <p:nvSpPr>
          <p:cNvPr id="9" name="Clone 9"/>
          <p:cNvSpPr txBox="1"/>
          <p:nvPr/>
        </p:nvSpPr>
        <p:spPr>
          <a:xfrm>
            <a:off x="4379976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Processing</a:t>
            </a:r>
          </a:p>
        </p:txBody>
      </p:sp>
      <p:sp>
        <p:nvSpPr>
          <p:cNvPr id="10" name="Clone 10"/>
          <p:cNvSpPr txBox="1"/>
          <p:nvPr/>
        </p:nvSpPr>
        <p:spPr>
          <a:xfrm>
            <a:off x="4379976" y="5120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away; progress by step</a:t>
            </a:r>
          </a:p>
        </p:txBody>
      </p:sp>
      <p:pic>
        <p:nvPicPr>
          <p:cNvPr id="11" name="Picture 10" descr="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1920240"/>
            <a:ext cx="3429000" cy="2571750"/>
          </a:xfrm>
          <a:prstGeom prst="rect">
            <a:avLst/>
          </a:prstGeom>
        </p:spPr>
      </p:pic>
      <p:sp>
        <p:nvSpPr>
          <p:cNvPr id="12" name="Clone 12"/>
          <p:cNvSpPr txBox="1"/>
          <p:nvPr/>
        </p:nvSpPr>
        <p:spPr>
          <a:xfrm>
            <a:off x="8083296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Verified minutes</a:t>
            </a:r>
          </a:p>
        </p:txBody>
      </p:sp>
      <p:sp>
        <p:nvSpPr>
          <p:cNvPr id="13" name="Clone 13"/>
          <p:cNvSpPr txBox="1"/>
          <p:nvPr/>
        </p:nvSpPr>
        <p:spPr>
          <a:xfrm>
            <a:off x="8083296" y="5120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Discrepancy with quotes, then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5087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audio recording of a round or meeting (MP3, M4A, WAV, FLAC..., up to 1 GB) plus title, speaker count and record type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3794760" y="2240280"/>
            <a:ext cx="658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453128" y="15087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00E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72744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ENGINE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27448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FFmpeg, Silero VAD, Whisper large-v3, sherpa-onnx diarization, Qwen2.5-7B correction and minutes. 9 steps, all on-premise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7744968" y="2240280"/>
            <a:ext cx="658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8403336" y="150876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677656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677656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by speaker, a report of corrected terms, and minutes verified against the transcript, editable and as PDF</a:t>
            </a:r>
          </a:p>
        </p:txBody>
      </p:sp>
      <p:sp>
        <p:nvSpPr>
          <p:cNvPr id="15" name="Shape 12"/>
          <p:cNvSpPr/>
          <p:nvPr/>
        </p:nvSpPr>
        <p:spPr>
          <a:xfrm>
            <a:off x="502920" y="39776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REAL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5720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flow on real Medpark recordings (2 to 3 min, 2 to 6 speakers), about 12 min per 2-min file on a laptop. Speaker linking to doctors, PDF export.</a:t>
            </a:r>
          </a:p>
        </p:txBody>
      </p:sp>
      <p:sp>
        <p:nvSpPr>
          <p:cNvPr id="18" name="Shape 15"/>
          <p:cNvSpPr/>
          <p:nvPr/>
        </p:nvSpPr>
        <p:spPr>
          <a:xfrm>
            <a:off x="6199632" y="39776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473952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STILL MOCKED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73952" y="45720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login yet. Speakers are linked to doctors by hand. Administrative and financial glossaries are empty. Email opens the mail client.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508760"/>
            <a:ext cx="3611880" cy="2560320"/>
          </a:xfrm>
          <a:prstGeom prst="roundRect">
            <a:avLst>
              <a:gd name="adj" fmla="val 4286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00E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02920" y="16916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777240" y="3017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of patient audio sent outside the hospital</a:t>
            </a:r>
          </a:p>
        </p:txBody>
      </p:sp>
      <p:sp>
        <p:nvSpPr>
          <p:cNvPr id="7" name="Shape 4"/>
          <p:cNvSpPr/>
          <p:nvPr/>
        </p:nvSpPr>
        <p:spPr>
          <a:xfrm>
            <a:off x="4288536" y="1508760"/>
            <a:ext cx="3611880" cy="2560320"/>
          </a:xfrm>
          <a:prstGeom prst="roundRect">
            <a:avLst>
              <a:gd name="adj" fmla="val 4286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288536" y="16916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13,200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4562856" y="3017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terms and ICD-10 diagnoses the corrector knows</a:t>
            </a:r>
          </a:p>
        </p:txBody>
      </p:sp>
      <p:sp>
        <p:nvSpPr>
          <p:cNvPr id="10" name="Shape 7"/>
          <p:cNvSpPr/>
          <p:nvPr/>
        </p:nvSpPr>
        <p:spPr>
          <a:xfrm>
            <a:off x="8074152" y="1508760"/>
            <a:ext cx="3611880" cy="2560320"/>
          </a:xfrm>
          <a:prstGeom prst="roundRect">
            <a:avLst>
              <a:gd name="adj" fmla="val 4286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074152" y="16916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steps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8348472" y="3017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recording to PDF minutes: upload, describe, review</a:t>
            </a:r>
          </a:p>
        </p:txBody>
      </p:sp>
      <p:sp>
        <p:nvSpPr>
          <p:cNvPr id="13" name="Shape 10"/>
          <p:cNvSpPr/>
          <p:nvPr/>
        </p:nvSpPr>
        <p:spPr>
          <a:xfrm>
            <a:off x="502920" y="4297680"/>
            <a:ext cx="11183112" cy="1645920"/>
          </a:xfrm>
          <a:prstGeom prst="roundRect">
            <a:avLst>
              <a:gd name="adj" fmla="val 6667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THE CHALLENGE PROVIDER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review minutes instead of writing them, and each statement is checked against the transcript. These numbers come from the product itself; time saved per doctor is what we will measure in the pilot.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188720" y="2103120"/>
            <a:ext cx="7498080" cy="0"/>
          </a:xfrm>
          <a:prstGeom prst="line">
            <a:avLst/>
          </a:prstGeom>
          <a:noFill/>
          <a:ln w="25400">
            <a:solidFill>
              <a:srgbClr val="00E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0EF00"/>
          </a:solidFill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CodeBlue on 10 real rounds with Medpark doctors and grow the mishearing list from their fixes</a:t>
            </a:r>
          </a:p>
        </p:txBody>
      </p:sp>
      <p:sp>
        <p:nvSpPr>
          <p:cNvPr id="8" name="Shape 5"/>
          <p:cNvSpPr/>
          <p:nvPr/>
        </p:nvSpPr>
        <p:spPr>
          <a:xfrm>
            <a:off x="4663440" y="1828800"/>
            <a:ext cx="548640" cy="548640"/>
          </a:xfrm>
          <a:prstGeom prst="ellipse">
            <a:avLst/>
          </a:prstGeom>
          <a:solidFill>
            <a:srgbClr val="00EF00"/>
          </a:solidFill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4805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MONTH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3017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login and roles, fill the administrative and financial glossaries, move to a GPU server</a:t>
            </a:r>
          </a:p>
        </p:txBody>
      </p:sp>
      <p:sp>
        <p:nvSpPr>
          <p:cNvPr id="11" name="Shape 8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00EF00"/>
          </a:solidFill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22960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8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3 MONTHS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3017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pilot in one department, speaker identification by voice, export to the EHR</a:t>
            </a:r>
          </a:p>
        </p:txBody>
      </p:sp>
      <p:sp>
        <p:nvSpPr>
          <p:cNvPr id="14" name="Shape 11"/>
          <p:cNvSpPr/>
          <p:nvPr/>
        </p:nvSpPr>
        <p:spPr>
          <a:xfrm>
            <a:off x="502920" y="4434840"/>
            <a:ext cx="11183112" cy="1508760"/>
          </a:xfrm>
          <a:prstGeom prst="roundRect">
            <a:avLst>
              <a:gd name="adj" fmla="val 7273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7724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</a:p>
        </p:txBody>
      </p:sp>
      <p:sp>
        <p:nvSpPr>
          <p:cNvPr id="16" name="Text 13"/>
          <p:cNvSpPr txBox="1"/>
          <p:nvPr/>
        </p:nvSpPr>
        <p:spPr>
          <a:xfrm>
            <a:off x="777240" y="5029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Anonymized recordings with a clinician to review the output, a server inside the Medpark network, and one pilot department.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508760"/>
            <a:ext cx="2103120" cy="3749040"/>
          </a:xfrm>
          <a:prstGeom prst="roundRect">
            <a:avLst>
              <a:gd name="adj" fmla="val 5217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68680" y="1783080"/>
            <a:ext cx="1371600" cy="1371600"/>
          </a:xfrm>
          <a:prstGeom prst="ellipse">
            <a:avLst/>
          </a:prstGeom>
          <a:solidFill>
            <a:srgbClr val="0C120E">
              <a:alpha val="70000"/>
            </a:srgbClr>
          </a:solidFill>
          <a:ln w="15875">
            <a:solidFill>
              <a:srgbClr val="00EF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6868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68580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Anastasia Televca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68580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AI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685800" y="4160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UI, LLM term correction, ICD-10 glossary, PDF minutes</a:t>
            </a:r>
          </a:p>
        </p:txBody>
      </p:sp>
      <p:sp>
        <p:nvSpPr>
          <p:cNvPr id="10" name="Shape 7"/>
          <p:cNvSpPr/>
          <p:nvPr/>
        </p:nvSpPr>
        <p:spPr>
          <a:xfrm>
            <a:off x="2770632" y="1508760"/>
            <a:ext cx="2103120" cy="3749040"/>
          </a:xfrm>
          <a:prstGeom prst="roundRect">
            <a:avLst>
              <a:gd name="adj" fmla="val 5217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36392" y="1783080"/>
            <a:ext cx="1371600" cy="1371600"/>
          </a:xfrm>
          <a:prstGeom prst="ellipse">
            <a:avLst/>
          </a:prstGeom>
          <a:solidFill>
            <a:srgbClr val="0C120E">
              <a:alpha val="70000"/>
            </a:srgbClr>
          </a:solidFill>
          <a:ln w="15875">
            <a:solidFill>
              <a:srgbClr val="00EF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136392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2953512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 Briceag</a:t>
            </a:r>
          </a:p>
        </p:txBody>
      </p:sp>
      <p:sp>
        <p:nvSpPr>
          <p:cNvPr id="14" name="Text 11"/>
          <p:cNvSpPr txBox="1"/>
          <p:nvPr/>
        </p:nvSpPr>
        <p:spPr>
          <a:xfrm>
            <a:off x="2953512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pipeline</a:t>
            </a:r>
          </a:p>
        </p:txBody>
      </p:sp>
      <p:sp>
        <p:nvSpPr>
          <p:cNvPr id="15" name="Text 12"/>
          <p:cNvSpPr txBox="1"/>
          <p:nvPr/>
        </p:nvSpPr>
        <p:spPr>
          <a:xfrm>
            <a:off x="2953512" y="4160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engine, speech pipeline, speaker linking, long recordings</a:t>
            </a:r>
          </a:p>
        </p:txBody>
      </p:sp>
      <p:sp>
        <p:nvSpPr>
          <p:cNvPr id="16" name="Shape 13"/>
          <p:cNvSpPr/>
          <p:nvPr/>
        </p:nvSpPr>
        <p:spPr>
          <a:xfrm>
            <a:off x="5038344" y="1508760"/>
            <a:ext cx="6647688" cy="3749040"/>
          </a:xfrm>
          <a:prstGeom prst="roundRect">
            <a:avLst>
              <a:gd name="adj" fmla="val 5217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lone 17"/>
          <p:cNvSpPr txBox="1"/>
          <p:nvPr/>
        </p:nvSpPr>
        <p:spPr>
          <a:xfrm>
            <a:off x="5358384" y="1783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AT GIGAHACK IN 48 HOURS</a:t>
            </a:r>
          </a:p>
        </p:txBody>
      </p:sp>
      <p:sp>
        <p:nvSpPr>
          <p:cNvPr id="18" name="Clone 18"/>
          <p:cNvSpPr txBox="1"/>
          <p:nvPr/>
        </p:nvSpPr>
        <p:spPr>
          <a:xfrm>
            <a:off x="5358384" y="22860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apps: an Angular 22 UI and an ASP.NET Core (.NET 10) API</a:t>
            </a:r>
          </a:p>
          <a:p>
            <a:pPr marL="0" indent="0" algn="l">
              <a:spcAft>
                <a:spcPts val="1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local AI models in a 9-step orchestrated pipeline</a:t>
            </a:r>
          </a:p>
          <a:p>
            <a:pPr marL="0" indent="0" algn="l">
              <a:spcAft>
                <a:spcPts val="1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end to end on real Medpark recordings</a:t>
            </a:r>
          </a:p>
          <a:p>
            <a:pPr marL="0" indent="0" algn="l">
              <a:spcAft>
                <a:spcPts val="1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Windows (Vulkan GPU) and macOS (Metal)</a:t>
            </a:r>
          </a:p>
          <a:p>
            <a:pPr marL="0" indent="0" algn="l">
              <a:spcAft>
                <a:spcPts val="1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commits, Romanian UI, PDF on Medpark letterhead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1887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CodeBlue turns a hospital recording into verified minutes, offline, in Romanian and Russian.</a:t>
            </a:r>
          </a:p>
        </p:txBody>
      </p:sp>
      <p:sp>
        <p:nvSpPr>
          <p:cNvPr id="4" name="Text 1"/>
          <p:cNvSpPr txBox="1"/>
          <p:nvPr/>
        </p:nvSpPr>
        <p:spPr>
          <a:xfrm>
            <a:off x="64008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CodeBlue · github.com/atelevca/codeblue</a:t>
            </a:r>
          </a:p>
        </p:txBody>
      </p:sp>
      <p:sp>
        <p:nvSpPr>
          <p:cNvPr id="6" name="Shape 3"/>
          <p:cNvSpPr/>
          <p:nvPr/>
        </p:nvSpPr>
        <p:spPr>
          <a:xfrm>
            <a:off x="9235440" y="342900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0C120E">
              <a:alpha val="75000"/>
            </a:srgbClr>
          </a:solidFill>
          <a:ln w="15875">
            <a:solidFill>
              <a:srgbClr val="00EF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235440" y="3429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356616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377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slides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part of the 5 minutes. Show them only if the jury asks.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details for Q&amp;A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150876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737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(.NET 10) API, Angular 22 UI, WorkflowCore on SQLite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Silero VAD cuts 15 to 25 s chunks at pauses, which stops Whisper repetition loops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Whisper.net large-v3 on Vulkan GPU, language forced to Romanian, low-confidence words flagged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sherpa-onnx: pyannote 3.0 segmentation and WeSpeaker embeddings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Qwen2.5-7B (GGUF, LLamaSharp + Semantic Kernel). Edits that change numbers, translate or rewrite over 25% are rejected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Minutes: extract facts, write, verify; PDF via MigraDoc</a:t>
            </a:r>
          </a:p>
        </p:txBody>
      </p:sp>
      <p:sp>
        <p:nvSpPr>
          <p:cNvPr id="7" name="Shape 4"/>
          <p:cNvSpPr/>
          <p:nvPr/>
        </p:nvSpPr>
        <p:spPr>
          <a:xfrm>
            <a:off x="6245352" y="150876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0C120E">
              <a:alpha val="88000"/>
            </a:srgbClr>
          </a:solidFill>
          <a:ln w="15875">
            <a:solidFill>
              <a:srgbClr val="2F4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19672" y="1737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/ SUSTAINABILITY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6519672" y="219456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one on-premise server: no per-minute cloud fees and no patient data leaving the network.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models only (Whisper, Qwen2.5, pyannote), so there is no vendor lock-in.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several record types: the same pipeline serves administrative and financial meetings once their glossaries are filled.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model: a per-hospital installation with setup and glossary tuning, then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48bd055-a5b8-5cc1-9814-be7f81f1d968/scratchpad/pitch/img/s2_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263640"/>
            <a:ext cx="2560320" cy="3465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transcript and speakers</a:t>
            </a:r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11183112" cy="4480560"/>
          </a:xfrm>
          <a:prstGeom prst="roundRect">
            <a:avLst>
              <a:gd name="adj" fmla="val 2449"/>
            </a:avLst>
          </a:prstGeom>
          <a:solidFill>
            <a:srgbClr val="0C120E">
              <a:alpha val="75000"/>
            </a:srgbClr>
          </a:solidFill>
          <a:ln w="19050">
            <a:solidFill>
              <a:srgbClr val="00EF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image-13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691640"/>
            <a:ext cx="3440666" cy="4023360"/>
          </a:xfrm>
          <a:prstGeom prst="rect">
            <a:avLst/>
          </a:prstGeom>
        </p:spPr>
      </p:pic>
      <p:pic>
        <p:nvPicPr>
          <p:cNvPr id="6" name="Picture 5" descr="image-13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2226" y="1691640"/>
            <a:ext cx="2403787" cy="4023360"/>
          </a:xfrm>
          <a:prstGeom prst="rect">
            <a:avLst/>
          </a:prstGeom>
        </p:spPr>
      </p:pic>
      <p:sp>
        <p:nvSpPr>
          <p:cNvPr id="7" name="Clone 7"/>
          <p:cNvSpPr txBox="1"/>
          <p:nvPr/>
        </p:nvSpPr>
        <p:spPr>
          <a:xfrm>
            <a:off x="7261773" y="1783080"/>
            <a:ext cx="4149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</a:t>
            </a:r>
          </a:p>
        </p:txBody>
      </p:sp>
      <p:sp>
        <p:nvSpPr>
          <p:cNvPr id="8" name="Clone 8"/>
          <p:cNvSpPr txBox="1"/>
          <p:nvPr/>
        </p:nvSpPr>
        <p:spPr>
          <a:xfrm>
            <a:off x="7261773" y="2167128"/>
            <a:ext cx="4149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with time codes and a colour per speaker.</a:t>
            </a:r>
          </a:p>
        </p:txBody>
      </p:sp>
      <p:sp>
        <p:nvSpPr>
          <p:cNvPr id="9" name="Clone 9"/>
          <p:cNvSpPr txBox="1"/>
          <p:nvPr/>
        </p:nvSpPr>
        <p:spPr>
          <a:xfrm>
            <a:off x="7261773" y="3108960"/>
            <a:ext cx="4149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LINKING</a:t>
            </a:r>
          </a:p>
        </p:txBody>
      </p:sp>
      <p:sp>
        <p:nvSpPr>
          <p:cNvPr id="10" name="Clone 10"/>
          <p:cNvSpPr txBox="1"/>
          <p:nvPr/>
        </p:nvSpPr>
        <p:spPr>
          <a:xfrm>
            <a:off x="7261773" y="3493008"/>
            <a:ext cx="4149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voice shows talk time and a sample quote. Pick a doctor from the directory.</a:t>
            </a:r>
          </a:p>
        </p:txBody>
      </p:sp>
      <p:sp>
        <p:nvSpPr>
          <p:cNvPr id="11" name="Clone 11"/>
          <p:cNvSpPr txBox="1"/>
          <p:nvPr/>
        </p:nvSpPr>
        <p:spPr>
          <a:xfrm>
            <a:off x="7261773" y="4434840"/>
            <a:ext cx="4149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REPROCESSING</a:t>
            </a:r>
          </a:p>
        </p:txBody>
      </p:sp>
      <p:sp>
        <p:nvSpPr>
          <p:cNvPr id="12" name="Clone 12"/>
          <p:cNvSpPr txBox="1"/>
          <p:nvPr/>
        </p:nvSpPr>
        <p:spPr>
          <a:xfrm>
            <a:off x="7261773" y="4818888"/>
            <a:ext cx="4149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are substituted on the fly. Links can change any number of times.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1682</Words>
  <Application>Microsoft Office PowerPoint</Application>
  <PresentationFormat>Widescreen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GigaHack 2026 — Pitch Template</dc:title>
  <dc:subject>PptxGenJS Presentation</dc:subject>
  <dc:creator>PptxGenJS</dc:creator>
  <cp:lastModifiedBy>Anastasia Televca</cp:lastModifiedBy>
  <cp:revision>3</cp:revision>
  <dcterms:created xsi:type="dcterms:W3CDTF">2026-09-26T10:17:35Z</dcterms:created>
  <dcterms:modified xsi:type="dcterms:W3CDTF">2026-09-26T20:42:30Z</dcterms:modified>
</cp:coreProperties>
</file>